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1.xml" ContentType="application/vnd.openxmlformats-officedocument.drawingml.chart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18"/>
  </p:notesMasterIdLst>
  <p:handoutMasterIdLst>
    <p:handoutMasterId r:id="rId19"/>
  </p:handoutMasterIdLst>
  <p:sldIdLst>
    <p:sldId id="3878" r:id="rId5"/>
    <p:sldId id="1887" r:id="rId6"/>
    <p:sldId id="3874" r:id="rId7"/>
    <p:sldId id="3900" r:id="rId8"/>
    <p:sldId id="3915" r:id="rId9"/>
    <p:sldId id="3906" r:id="rId10"/>
    <p:sldId id="3916" r:id="rId11"/>
    <p:sldId id="3907" r:id="rId12"/>
    <p:sldId id="3908" r:id="rId13"/>
    <p:sldId id="3910" r:id="rId14"/>
    <p:sldId id="3917" r:id="rId15"/>
    <p:sldId id="3918" r:id="rId16"/>
    <p:sldId id="3913" r:id="rId17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&amp; Agenda" id="{60E13EF1-990F-A246-A1EB-208304A60FFB}">
          <p14:sldIdLst>
            <p14:sldId id="3878"/>
            <p14:sldId id="1887"/>
          </p14:sldIdLst>
        </p14:section>
        <p14:section name="1. Business need" id="{A01FB36B-D2E4-4FF6-B62E-B5719DCE8C25}">
          <p14:sldIdLst>
            <p14:sldId id="3874"/>
            <p14:sldId id="3900"/>
          </p14:sldIdLst>
        </p14:section>
        <p14:section name="2. Model Explanation" id="{9328C8B4-1CB5-4A6F-849B-BAF9BAFC8E89}">
          <p14:sldIdLst>
            <p14:sldId id="3915"/>
            <p14:sldId id="3906"/>
          </p14:sldIdLst>
        </p14:section>
        <p14:section name="3. AWS Infrastructure" id="{5D871DAB-165A-422C-BF30-81F3B247F541}">
          <p14:sldIdLst>
            <p14:sldId id="3916"/>
            <p14:sldId id="3907"/>
            <p14:sldId id="3908"/>
            <p14:sldId id="3910"/>
          </p14:sldIdLst>
        </p14:section>
        <p14:section name="4. Live demonstration" id="{D9EFF53E-44D2-4ECF-B738-E3BBD0406FFF}">
          <p14:sldIdLst>
            <p14:sldId id="3917"/>
          </p14:sldIdLst>
        </p14:section>
        <p14:section name="5. Risks &amp; Limitations" id="{A711CF1D-45C8-4EB3-8C93-FEE3190E59A1}">
          <p14:sldIdLst>
            <p14:sldId id="3918"/>
            <p14:sldId id="3913"/>
          </p14:sldIdLst>
        </p14:section>
        <p14:section name="Appendix" id="{6A8ECDE8-8629-8441-9858-4B9CC14B437A}">
          <p14:sldIdLst/>
        </p14:section>
        <p14:section name="Old" id="{643A2500-CB34-D04A-AB8E-44835625273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FAC75D-3507-AA09-44BF-989789E0B596}" name="Voss, Maximilian" initials="VM" userId="Voss, Maximilian" providerId="None"/>
  <p188:author id="{FAD30198-60FD-D96C-7EFF-04ABEB9B0931}" name="Usuario invitado" initials="Ui" userId="Usuario invitado" providerId="Windows Live"/>
  <p188:author id="{2C008FCE-0707-7FB2-6F90-B1688987E9B3}" name="FreiherrvonRotenhan, Theodor" initials="FT" userId="FreiherrvonRotenhan, Theodo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B3E"/>
    <a:srgbClr val="929292"/>
    <a:srgbClr val="EAEAEA"/>
    <a:srgbClr val="E7EDF1"/>
    <a:srgbClr val="2D4080"/>
    <a:srgbClr val="000031"/>
    <a:srgbClr val="002060"/>
    <a:srgbClr val="FFFFFF"/>
    <a:srgbClr val="007A33"/>
    <a:srgbClr val="12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5E75D-73E4-429C-A76A-02FA9FD65EDA}" v="3115" dt="2025-12-04T20:58:15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6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2" d="100"/>
          <a:sy n="42" d="100"/>
        </p:scale>
        <p:origin x="2820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596880623875225E-2"/>
          <c:y val="0.12762078395624429"/>
          <c:w val="0.96880623875224958"/>
          <c:h val="0.7844120328167729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0B3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2087511394712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F1B-40E9-9A34-75FFD118A210}"/>
                </c:ext>
              </c:extLst>
            </c:dLbl>
            <c:dLbl>
              <c:idx val="1"/>
              <c:layout>
                <c:manualLayout>
                  <c:x val="0"/>
                  <c:y val="-0.4111212397447584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F1B-40E9-9A34-75FFD118A210}"/>
                </c:ext>
              </c:extLst>
            </c:dLbl>
            <c:dLbl>
              <c:idx val="2"/>
              <c:layout>
                <c:manualLayout>
                  <c:x val="0"/>
                  <c:y val="-0.390154968094803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F1B-40E9-9A34-75FFD118A210}"/>
                </c:ext>
              </c:extLst>
            </c:dLbl>
            <c:dLbl>
              <c:idx val="3"/>
              <c:layout>
                <c:manualLayout>
                  <c:x val="0"/>
                  <c:y val="-0.403828623518687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F1B-40E9-9A34-75FFD118A210}"/>
                </c:ext>
              </c:extLst>
            </c:dLbl>
            <c:dLbl>
              <c:idx val="4"/>
              <c:layout>
                <c:manualLayout>
                  <c:x val="0"/>
                  <c:y val="-0.417958067456700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F1B-40E9-9A34-75FFD118A210}"/>
                </c:ext>
              </c:extLst>
            </c:dLbl>
            <c:dLbl>
              <c:idx val="5"/>
              <c:layout>
                <c:manualLayout>
                  <c:x val="0"/>
                  <c:y val="-0.417958067456700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F1B-40E9-9A34-75FFD118A2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14</c:v>
                </c:pt>
                <c:pt idx="1">
                  <c:v>13.25</c:v>
                </c:pt>
                <c:pt idx="2">
                  <c:v>12.5</c:v>
                </c:pt>
                <c:pt idx="3">
                  <c:v>13</c:v>
                </c:pt>
                <c:pt idx="4">
                  <c:v>13.5</c:v>
                </c:pt>
                <c:pt idx="5">
                  <c:v>13.5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1B-40E9-9A34-75FFD118A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38019023"/>
        <c:axId val="1"/>
      </c:barChart>
      <c:catAx>
        <c:axId val="17380190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380190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A9A758-00F8-7ED9-5506-A238B28432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37033-CF10-3BF4-DB4E-314E929883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466BE-9010-4798-AE7B-3D60E38273A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5C9AB-3BF6-E8EC-DD52-1D1EF3FEEA9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00D60-32ED-66AC-2B8B-FF6653211F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F0C70-4C97-4236-B9BF-D64DBD821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8164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C316B-E337-475C-B418-86465EE3984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2CC34-6B35-45DE-B8BD-5EAA21C5D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0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2CC34-6B35-45DE-B8BD-5EAA21C5DA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7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6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8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5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7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2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8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0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9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9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72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20586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ESADE - Wikipedia">
            <a:extLst>
              <a:ext uri="{FF2B5EF4-FFF2-40B4-BE49-F238E27FC236}">
                <a16:creationId xmlns:a16="http://schemas.microsoft.com/office/drawing/2014/main" id="{DA167969-3872-F65F-6745-BB6774EA18B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95" b="27763"/>
          <a:stretch/>
        </p:blipFill>
        <p:spPr bwMode="auto">
          <a:xfrm>
            <a:off x="9383109" y="458220"/>
            <a:ext cx="2224135" cy="59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98753E1-5C15-823F-6E0C-72193FF8885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037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8753E1-5C15-823F-6E0C-72193FF88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5857A9-A2C7-49C5-BEA4-B8242B74E13C}"/>
              </a:ext>
            </a:extLst>
          </p:cNvPr>
          <p:cNvCxnSpPr>
            <a:cxnSpLocks/>
          </p:cNvCxnSpPr>
          <p:nvPr userDrawn="1"/>
        </p:nvCxnSpPr>
        <p:spPr>
          <a:xfrm>
            <a:off x="469900" y="6377173"/>
            <a:ext cx="11252200" cy="0"/>
          </a:xfrm>
          <a:prstGeom prst="line">
            <a:avLst/>
          </a:prstGeom>
          <a:ln w="9525">
            <a:solidFill>
              <a:srgbClr val="0000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78F901-C597-4706-AC89-8BF2291D7F29}"/>
              </a:ext>
            </a:extLst>
          </p:cNvPr>
          <p:cNvSpPr txBox="1"/>
          <p:nvPr userDrawn="1"/>
        </p:nvSpPr>
        <p:spPr>
          <a:xfrm>
            <a:off x="11414125" y="6428872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chemeClr val="tx1"/>
                </a:solidFill>
                <a:latin typeface="Century Gothic" panose="020B0502020202020204" pitchFamily="34" charset="0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4E05ED7-6255-4C23-A0F7-0695E70E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586179"/>
            <a:ext cx="8732884" cy="59988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defRPr sz="2800" b="1">
                <a:solidFill>
                  <a:srgbClr val="000B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CH" noProof="0" dirty="0"/>
              <a:t>Click </a:t>
            </a:r>
            <a:r>
              <a:rPr lang="de-CH" noProof="0" dirty="0" err="1"/>
              <a:t>to</a:t>
            </a:r>
            <a:r>
              <a:rPr lang="de-CH" noProof="0" dirty="0"/>
              <a:t> </a:t>
            </a:r>
            <a:r>
              <a:rPr lang="de-CH" noProof="0" dirty="0" err="1"/>
              <a:t>edit</a:t>
            </a:r>
            <a:r>
              <a:rPr lang="de-CH" noProof="0" dirty="0"/>
              <a:t>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119C5E-E506-48C3-B538-F423C8C88A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9899" y="356500"/>
            <a:ext cx="8732884" cy="1971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rgbClr val="000B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 noProof="0" dirty="0"/>
              <a:t>Click </a:t>
            </a:r>
            <a:r>
              <a:rPr lang="de-CH" noProof="0" dirty="0" err="1"/>
              <a:t>to</a:t>
            </a:r>
            <a:r>
              <a:rPr lang="de-CH" noProof="0" dirty="0"/>
              <a:t> </a:t>
            </a:r>
            <a:r>
              <a:rPr lang="de-CH" noProof="0" dirty="0" err="1"/>
              <a:t>edit</a:t>
            </a:r>
            <a:r>
              <a:rPr lang="de-CH" noProof="0" dirty="0"/>
              <a:t> Master </a:t>
            </a:r>
            <a:r>
              <a:rPr lang="de-CH" noProof="0" dirty="0" err="1"/>
              <a:t>text</a:t>
            </a:r>
            <a:r>
              <a:rPr lang="de-CH" noProof="0" dirty="0"/>
              <a:t> </a:t>
            </a:r>
            <a:r>
              <a:rPr lang="de-CH" noProof="0" dirty="0" err="1"/>
              <a:t>styles</a:t>
            </a:r>
            <a:endParaRPr lang="de-CH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7F0233-6733-2246-98DD-21E1C449269A}"/>
              </a:ext>
            </a:extLst>
          </p:cNvPr>
          <p:cNvCxnSpPr>
            <a:cxnSpLocks/>
          </p:cNvCxnSpPr>
          <p:nvPr userDrawn="1"/>
        </p:nvCxnSpPr>
        <p:spPr>
          <a:xfrm>
            <a:off x="469899" y="1210308"/>
            <a:ext cx="11239205" cy="0"/>
          </a:xfrm>
          <a:prstGeom prst="line">
            <a:avLst/>
          </a:prstGeom>
          <a:ln w="28575">
            <a:solidFill>
              <a:srgbClr val="0000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41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bschnittsüberschrift">
    <p:bg>
      <p:bgPr>
        <a:solidFill>
          <a:srgbClr val="E7E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923923F-B52C-8B2A-799F-E139D2FFCA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7112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260919A1-09FC-45C9-8420-771F912792E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78578" y="2678944"/>
            <a:ext cx="6973235" cy="1724949"/>
          </a:xfrm>
          <a:ln>
            <a:noFill/>
          </a:ln>
        </p:spPr>
        <p:txBody>
          <a:bodyPr lIns="0"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rgbClr val="000B3E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 noProof="0"/>
              <a:t>Titel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1600" b="0"/>
              <a:t>1.1  Unterkapitel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95A1A3A7-E354-4061-9CAA-65990F0D435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0808" y="1644776"/>
            <a:ext cx="2602303" cy="3734701"/>
          </a:xfrm>
          <a:ln>
            <a:noFill/>
          </a:ln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0">
                <a:solidFill>
                  <a:srgbClr val="000B3E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1</a:t>
            </a:r>
          </a:p>
        </p:txBody>
      </p:sp>
      <p:cxnSp>
        <p:nvCxnSpPr>
          <p:cNvPr id="13" name="Gerade Verbindung 7">
            <a:extLst>
              <a:ext uri="{FF2B5EF4-FFF2-40B4-BE49-F238E27FC236}">
                <a16:creationId xmlns:a16="http://schemas.microsoft.com/office/drawing/2014/main" id="{945F31E4-033C-4017-9B14-6C6BDEF0F9B7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Gerade Verbindung 7">
            <a:extLst>
              <a:ext uri="{FF2B5EF4-FFF2-40B4-BE49-F238E27FC236}">
                <a16:creationId xmlns:a16="http://schemas.microsoft.com/office/drawing/2014/main" id="{778FB6C5-D5AD-45D9-A6CB-1D5C661BD636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837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953A783-B7EB-FEE0-384B-C9ABAFD7B61E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0667241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95" imgH="396" progId="TCLayout.ActiveDocument.1">
                  <p:embed/>
                </p:oleObj>
              </mc:Choice>
              <mc:Fallback>
                <p:oleObj name="think-cell Slide" r:id="rId17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53A783-B7EB-FEE0-384B-C9ABAFD7B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3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" Type="http://schemas.openxmlformats.org/officeDocument/2006/relationships/tags" Target="../tags/tag10.xml"/><Relationship Id="rId21" Type="http://schemas.openxmlformats.org/officeDocument/2006/relationships/image" Target="../media/image1.emf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oleObject" Target="../embeddings/oleObject7.bin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slideLayout" Target="../slideLayouts/slideLayout13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8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5" Type="http://schemas.openxmlformats.org/officeDocument/2006/relationships/image" Target="../media/image8.jpg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5" Type="http://schemas.openxmlformats.org/officeDocument/2006/relationships/image" Target="../media/image9.jpg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2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3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emf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1B28-3C38-74D4-91C3-184F8BC5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CCB8F9C-6970-2512-7E81-D7FA3BCFB0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652999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CB8F9C-6970-2512-7E81-D7FA3BCFB0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8ECB4F32-34E3-41F1-AC24-BE3A7D6AE1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42857DA0-C755-C4ED-963F-AAC687B458C1}"/>
              </a:ext>
            </a:extLst>
          </p:cNvPr>
          <p:cNvSpPr/>
          <p:nvPr/>
        </p:nvSpPr>
        <p:spPr>
          <a:xfrm>
            <a:off x="-1" y="5221995"/>
            <a:ext cx="12192001" cy="1636005"/>
          </a:xfrm>
          <a:custGeom>
            <a:avLst/>
            <a:gdLst>
              <a:gd name="connsiteX0" fmla="*/ 9144002 w 9144003"/>
              <a:gd name="connsiteY0" fmla="*/ 0 h 1737360"/>
              <a:gd name="connsiteX1" fmla="*/ 9144002 w 9144003"/>
              <a:gd name="connsiteY1" fmla="*/ 935355 h 1737360"/>
              <a:gd name="connsiteX2" fmla="*/ 9144003 w 9144003"/>
              <a:gd name="connsiteY2" fmla="*/ 935355 h 1737360"/>
              <a:gd name="connsiteX3" fmla="*/ 9144003 w 9144003"/>
              <a:gd name="connsiteY3" fmla="*/ 1737360 h 1737360"/>
              <a:gd name="connsiteX4" fmla="*/ 1 w 9144003"/>
              <a:gd name="connsiteY4" fmla="*/ 1737360 h 1737360"/>
              <a:gd name="connsiteX5" fmla="*/ 1 w 9144003"/>
              <a:gd name="connsiteY5" fmla="*/ 935356 h 1737360"/>
              <a:gd name="connsiteX6" fmla="*/ 0 w 9144003"/>
              <a:gd name="connsiteY6" fmla="*/ 935356 h 1737360"/>
              <a:gd name="connsiteX7" fmla="*/ 1 w 9144003"/>
              <a:gd name="connsiteY7" fmla="*/ 935356 h 1737360"/>
              <a:gd name="connsiteX8" fmla="*/ 1 w 9144003"/>
              <a:gd name="connsiteY8" fmla="*/ 935355 h 1737360"/>
              <a:gd name="connsiteX9" fmla="*/ 5 w 9144003"/>
              <a:gd name="connsiteY9" fmla="*/ 935355 h 17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3" h="1737360">
                <a:moveTo>
                  <a:pt x="9144002" y="0"/>
                </a:moveTo>
                <a:lnTo>
                  <a:pt x="9144002" y="935355"/>
                </a:lnTo>
                <a:lnTo>
                  <a:pt x="9144003" y="935355"/>
                </a:lnTo>
                <a:lnTo>
                  <a:pt x="9144003" y="1737360"/>
                </a:lnTo>
                <a:lnTo>
                  <a:pt x="1" y="1737360"/>
                </a:lnTo>
                <a:lnTo>
                  <a:pt x="1" y="935356"/>
                </a:lnTo>
                <a:lnTo>
                  <a:pt x="0" y="935356"/>
                </a:lnTo>
                <a:lnTo>
                  <a:pt x="1" y="935356"/>
                </a:lnTo>
                <a:lnTo>
                  <a:pt x="1" y="935355"/>
                </a:lnTo>
                <a:lnTo>
                  <a:pt x="5" y="93535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299936-4032-8E91-97FC-ADC784B38CC1}"/>
              </a:ext>
            </a:extLst>
          </p:cNvPr>
          <p:cNvSpPr/>
          <p:nvPr/>
        </p:nvSpPr>
        <p:spPr>
          <a:xfrm>
            <a:off x="3710385" y="5831550"/>
            <a:ext cx="8176815" cy="830997"/>
          </a:xfrm>
          <a:prstGeom prst="rect">
            <a:avLst/>
          </a:prstGeom>
          <a:ln w="28575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2400" b="1" dirty="0">
                <a:solidFill>
                  <a:srgbClr val="000B3E"/>
                </a:solidFill>
                <a:latin typeface="+mj-lt"/>
                <a:ea typeface="Noto Sans" panose="020B0502040504020204" pitchFamily="34" charset="0"/>
                <a:cs typeface="Noto Sans" panose="020B0502040504020204" pitchFamily="34" charset="0"/>
              </a:rPr>
              <a:t>Prediction of supermarket sales to reduce food waste</a:t>
            </a:r>
            <a:endParaRPr lang="en-US" sz="2400" dirty="0">
              <a:solidFill>
                <a:srgbClr val="000B3E"/>
              </a:solidFill>
              <a:latin typeface="+mj-lt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r"/>
            <a:r>
              <a:rPr lang="en-US" sz="2400" dirty="0">
                <a:solidFill>
                  <a:srgbClr val="000B3E"/>
                </a:solidFill>
                <a:latin typeface="+mj-lt"/>
                <a:ea typeface="Noto Sans" panose="020B0502040504020204" pitchFamily="34" charset="0"/>
                <a:cs typeface="Noto Sans" panose="020B0502040504020204" pitchFamily="34" charset="0"/>
              </a:rPr>
              <a:t>Cloud Computing I Presentation: Group 3 – 05.12.2025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AAC0938-3108-3A2A-3C03-5758ED458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7" t="28656" r="7437" b="23585"/>
          <a:stretch/>
        </p:blipFill>
        <p:spPr bwMode="auto">
          <a:xfrm>
            <a:off x="768262" y="6186673"/>
            <a:ext cx="1373618" cy="55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84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E2F55B7-5102-A70B-6E53-3C8A7BBEDE2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7868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2F55B7-5102-A70B-6E53-3C8A7BBEDE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E91A5F5-EC8A-61AC-A316-4DA848AA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CH" dirty="0"/>
              <a:t>The </a:t>
            </a:r>
            <a:r>
              <a:rPr lang="de-CH" dirty="0" err="1"/>
              <a:t>presentation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focused</a:t>
            </a:r>
            <a:r>
              <a:rPr lang="de-CH" dirty="0"/>
              <a:t> on 6 </a:t>
            </a:r>
            <a:r>
              <a:rPr lang="de-CH" dirty="0" err="1"/>
              <a:t>main</a:t>
            </a:r>
            <a:r>
              <a:rPr lang="de-CH" dirty="0"/>
              <a:t> </a:t>
            </a:r>
            <a:r>
              <a:rPr lang="de-CH" dirty="0" err="1"/>
              <a:t>parts</a:t>
            </a:r>
            <a:r>
              <a:rPr lang="de-CH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CB0F1-8BD8-D6FF-5A22-7CE5EBB00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Agenda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8F1D235-FF90-EBFC-AAD2-51C6EBB0FB87}"/>
              </a:ext>
            </a:extLst>
          </p:cNvPr>
          <p:cNvGrpSpPr/>
          <p:nvPr/>
        </p:nvGrpSpPr>
        <p:grpSpPr>
          <a:xfrm>
            <a:off x="525294" y="1511759"/>
            <a:ext cx="11133305" cy="4760062"/>
            <a:chOff x="525294" y="1511759"/>
            <a:chExt cx="11133305" cy="396703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1CC27E-4EDB-5D00-8278-7AD55777850B}"/>
                </a:ext>
              </a:extLst>
            </p:cNvPr>
            <p:cNvGrpSpPr/>
            <p:nvPr/>
          </p:nvGrpSpPr>
          <p:grpSpPr>
            <a:xfrm>
              <a:off x="525294" y="1511759"/>
              <a:ext cx="11133305" cy="720000"/>
              <a:chOff x="497802" y="1511759"/>
              <a:chExt cx="11211598" cy="937029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2D9B002-60D5-378F-1B0B-E7078FD36701}"/>
                  </a:ext>
                </a:extLst>
              </p:cNvPr>
              <p:cNvSpPr/>
              <p:nvPr/>
            </p:nvSpPr>
            <p:spPr>
              <a:xfrm>
                <a:off x="497802" y="1558569"/>
                <a:ext cx="11211598" cy="8518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2"/>
                    </a:solidFill>
                    <a:ea typeface="Noto Sans" panose="020B0502040504020204" pitchFamily="34" charset="0"/>
                    <a:cs typeface="Noto Sans" panose="020B0502040504020204" pitchFamily="34" charset="0"/>
                  </a:rPr>
                  <a:t>1.   Business need</a:t>
                </a: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6B391FF-496B-E20F-7B7D-41D52894F806}"/>
                  </a:ext>
                </a:extLst>
              </p:cNvPr>
              <p:cNvGrpSpPr/>
              <p:nvPr/>
            </p:nvGrpSpPr>
            <p:grpSpPr>
              <a:xfrm>
                <a:off x="8213262" y="1511759"/>
                <a:ext cx="3496138" cy="937029"/>
                <a:chOff x="9978887" y="1932967"/>
                <a:chExt cx="1556423" cy="457201"/>
              </a:xfrm>
              <a:solidFill>
                <a:srgbClr val="263A7D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A0EBB7A-09C7-AE0B-B734-67D11EB00A08}"/>
                    </a:ext>
                  </a:extLst>
                </p:cNvPr>
                <p:cNvSpPr/>
                <p:nvPr/>
              </p:nvSpPr>
              <p:spPr>
                <a:xfrm>
                  <a:off x="9978887" y="1932967"/>
                  <a:ext cx="1216152" cy="457201"/>
                </a:xfrm>
                <a:prstGeom prst="parallelogram">
                  <a:avLst>
                    <a:gd name="adj" fmla="val 7065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 sz="2000"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24316BD4-AC73-BB35-41B7-019B124FD966}"/>
                    </a:ext>
                  </a:extLst>
                </p:cNvPr>
                <p:cNvSpPr/>
                <p:nvPr/>
              </p:nvSpPr>
              <p:spPr>
                <a:xfrm>
                  <a:off x="10359342" y="1932968"/>
                  <a:ext cx="1175968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CH" sz="2000" b="1" dirty="0">
                      <a:ea typeface="Noto Sans" panose="020B0502040504020204" pitchFamily="34" charset="0"/>
                      <a:cs typeface="Noto Sans" panose="020B0502040504020204" pitchFamily="34" charset="0"/>
                    </a:rPr>
                    <a:t>3</a:t>
                  </a: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E5A94F-0AF3-0F8E-0376-EC3DEB69AD7F}"/>
                </a:ext>
              </a:extLst>
            </p:cNvPr>
            <p:cNvGrpSpPr/>
            <p:nvPr/>
          </p:nvGrpSpPr>
          <p:grpSpPr>
            <a:xfrm>
              <a:off x="525294" y="2323518"/>
              <a:ext cx="11133305" cy="720000"/>
              <a:chOff x="497802" y="4009936"/>
              <a:chExt cx="11211598" cy="937029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FD1F2D5-0DF1-6716-E8F9-76497EA7230D}"/>
                  </a:ext>
                </a:extLst>
              </p:cNvPr>
              <p:cNvSpPr/>
              <p:nvPr/>
            </p:nvSpPr>
            <p:spPr>
              <a:xfrm>
                <a:off x="497802" y="4056743"/>
                <a:ext cx="11211598" cy="8518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2"/>
                    </a:solidFill>
                    <a:ea typeface="Noto Sans" panose="020B0502040504020204" pitchFamily="34" charset="0"/>
                    <a:cs typeface="Noto Sans" panose="020B0502040504020204" pitchFamily="34" charset="0"/>
                  </a:rPr>
                  <a:t>3.   Model explanation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B8A7E54-2376-2070-4FEE-22D51FA36B8A}"/>
                  </a:ext>
                </a:extLst>
              </p:cNvPr>
              <p:cNvGrpSpPr/>
              <p:nvPr/>
            </p:nvGrpSpPr>
            <p:grpSpPr>
              <a:xfrm>
                <a:off x="8198190" y="4009936"/>
                <a:ext cx="3496138" cy="937029"/>
                <a:chOff x="9978887" y="1932967"/>
                <a:chExt cx="1556423" cy="457201"/>
              </a:xfrm>
              <a:solidFill>
                <a:srgbClr val="263A7D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9" name="Parallelogram 48">
                  <a:extLst>
                    <a:ext uri="{FF2B5EF4-FFF2-40B4-BE49-F238E27FC236}">
                      <a16:creationId xmlns:a16="http://schemas.microsoft.com/office/drawing/2014/main" id="{E46A95B2-36F0-ED35-8ECC-027C4BDF32F9}"/>
                    </a:ext>
                  </a:extLst>
                </p:cNvPr>
                <p:cNvSpPr/>
                <p:nvPr/>
              </p:nvSpPr>
              <p:spPr>
                <a:xfrm>
                  <a:off x="9978887" y="1932967"/>
                  <a:ext cx="1216152" cy="457201"/>
                </a:xfrm>
                <a:prstGeom prst="parallelogram">
                  <a:avLst>
                    <a:gd name="adj" fmla="val 7065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 sz="2000"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1E2FD18-956C-4A0F-DE49-8772F24EC0F6}"/>
                    </a:ext>
                  </a:extLst>
                </p:cNvPr>
                <p:cNvSpPr/>
                <p:nvPr/>
              </p:nvSpPr>
              <p:spPr>
                <a:xfrm>
                  <a:off x="10359342" y="1932968"/>
                  <a:ext cx="1175968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CH" sz="2000" b="1" dirty="0">
                      <a:ea typeface="Noto Sans" panose="020B0502040504020204" pitchFamily="34" charset="0"/>
                      <a:cs typeface="Noto Sans" panose="020B0502040504020204" pitchFamily="34" charset="0"/>
                    </a:rPr>
                    <a:t>5</a:t>
                  </a: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36AC5E2-1046-160F-FB7E-BFBDB8FE3A1D}"/>
                </a:ext>
              </a:extLst>
            </p:cNvPr>
            <p:cNvGrpSpPr/>
            <p:nvPr/>
          </p:nvGrpSpPr>
          <p:grpSpPr>
            <a:xfrm>
              <a:off x="525294" y="3135277"/>
              <a:ext cx="11133305" cy="720000"/>
              <a:chOff x="497802" y="5259025"/>
              <a:chExt cx="11211598" cy="937029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B59A670-68EF-F20B-DF2E-38AB18F1B643}"/>
                  </a:ext>
                </a:extLst>
              </p:cNvPr>
              <p:cNvSpPr/>
              <p:nvPr/>
            </p:nvSpPr>
            <p:spPr>
              <a:xfrm>
                <a:off x="497802" y="5305831"/>
                <a:ext cx="11211598" cy="8518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2"/>
                    </a:solidFill>
                    <a:ea typeface="Noto Sans" panose="020B0502040504020204" pitchFamily="34" charset="0"/>
                    <a:cs typeface="Noto Sans" panose="020B0502040504020204" pitchFamily="34" charset="0"/>
                  </a:rPr>
                  <a:t>4.   AWS infrastructure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F6D8A7F-8439-E5F2-3343-D0C6D3F8851B}"/>
                  </a:ext>
                </a:extLst>
              </p:cNvPr>
              <p:cNvGrpSpPr/>
              <p:nvPr/>
            </p:nvGrpSpPr>
            <p:grpSpPr>
              <a:xfrm>
                <a:off x="8198190" y="5259025"/>
                <a:ext cx="3496138" cy="937029"/>
                <a:chOff x="9978887" y="1932967"/>
                <a:chExt cx="1556423" cy="457201"/>
              </a:xfrm>
              <a:solidFill>
                <a:srgbClr val="263A7D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5" name="Parallelogram 44">
                  <a:extLst>
                    <a:ext uri="{FF2B5EF4-FFF2-40B4-BE49-F238E27FC236}">
                      <a16:creationId xmlns:a16="http://schemas.microsoft.com/office/drawing/2014/main" id="{1702386A-672D-D0F1-B479-BFA555309A9A}"/>
                    </a:ext>
                  </a:extLst>
                </p:cNvPr>
                <p:cNvSpPr/>
                <p:nvPr/>
              </p:nvSpPr>
              <p:spPr>
                <a:xfrm>
                  <a:off x="9978887" y="1932967"/>
                  <a:ext cx="1216152" cy="457201"/>
                </a:xfrm>
                <a:prstGeom prst="parallelogram">
                  <a:avLst>
                    <a:gd name="adj" fmla="val 7065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 sz="2000"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BFD0DD-426E-1D48-4605-938002D1BD4D}"/>
                    </a:ext>
                  </a:extLst>
                </p:cNvPr>
                <p:cNvSpPr/>
                <p:nvPr/>
              </p:nvSpPr>
              <p:spPr>
                <a:xfrm>
                  <a:off x="10359342" y="1932968"/>
                  <a:ext cx="1175968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CH" sz="2000" b="1" dirty="0">
                      <a:ea typeface="Noto Sans" panose="020B0502040504020204" pitchFamily="34" charset="0"/>
                      <a:cs typeface="Noto Sans" panose="020B0502040504020204" pitchFamily="34" charset="0"/>
                    </a:rPr>
                    <a:t>7</a:t>
                  </a: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38D08D0-5054-2DA6-87F8-755037EBEB66}"/>
                </a:ext>
              </a:extLst>
            </p:cNvPr>
            <p:cNvGrpSpPr/>
            <p:nvPr/>
          </p:nvGrpSpPr>
          <p:grpSpPr>
            <a:xfrm>
              <a:off x="525294" y="3947036"/>
              <a:ext cx="11133305" cy="720000"/>
              <a:chOff x="497802" y="5259025"/>
              <a:chExt cx="11211598" cy="93702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634B98-F9A1-833E-AF44-59CE9F1A1351}"/>
                  </a:ext>
                </a:extLst>
              </p:cNvPr>
              <p:cNvSpPr/>
              <p:nvPr/>
            </p:nvSpPr>
            <p:spPr>
              <a:xfrm>
                <a:off x="497802" y="5305830"/>
                <a:ext cx="11211598" cy="8518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2"/>
                    </a:solidFill>
                    <a:ea typeface="Noto Sans" panose="020B0502040504020204" pitchFamily="34" charset="0"/>
                    <a:cs typeface="Noto Sans" panose="020B0502040504020204" pitchFamily="34" charset="0"/>
                  </a:rPr>
                  <a:t>5.   Live demonstration </a:t>
                </a: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51A7EDD-8F9A-2BE0-8909-97C048FFAF08}"/>
                  </a:ext>
                </a:extLst>
              </p:cNvPr>
              <p:cNvGrpSpPr/>
              <p:nvPr/>
            </p:nvGrpSpPr>
            <p:grpSpPr>
              <a:xfrm>
                <a:off x="8198190" y="5259025"/>
                <a:ext cx="3496138" cy="937029"/>
                <a:chOff x="9978887" y="1932967"/>
                <a:chExt cx="1556423" cy="457201"/>
              </a:xfrm>
              <a:solidFill>
                <a:srgbClr val="263A7D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1" name="Parallelogram 40">
                  <a:extLst>
                    <a:ext uri="{FF2B5EF4-FFF2-40B4-BE49-F238E27FC236}">
                      <a16:creationId xmlns:a16="http://schemas.microsoft.com/office/drawing/2014/main" id="{675496FB-5971-8C66-6D69-D35FDBA3564D}"/>
                    </a:ext>
                  </a:extLst>
                </p:cNvPr>
                <p:cNvSpPr/>
                <p:nvPr/>
              </p:nvSpPr>
              <p:spPr>
                <a:xfrm>
                  <a:off x="9978887" y="1932967"/>
                  <a:ext cx="1216152" cy="457201"/>
                </a:xfrm>
                <a:prstGeom prst="parallelogram">
                  <a:avLst>
                    <a:gd name="adj" fmla="val 7065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 sz="2000"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9A33236-47DD-06F9-2D1A-21B098A7A8D4}"/>
                    </a:ext>
                  </a:extLst>
                </p:cNvPr>
                <p:cNvSpPr/>
                <p:nvPr/>
              </p:nvSpPr>
              <p:spPr>
                <a:xfrm>
                  <a:off x="10359342" y="1932968"/>
                  <a:ext cx="1175968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CH" sz="2000" b="1" dirty="0">
                      <a:ea typeface="Noto Sans" panose="020B0502040504020204" pitchFamily="34" charset="0"/>
                      <a:cs typeface="Noto Sans" panose="020B0502040504020204" pitchFamily="34" charset="0"/>
                    </a:rPr>
                    <a:t>11</a:t>
                  </a:r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FCADDA8-7ED5-4165-51B1-03777390154A}"/>
                </a:ext>
              </a:extLst>
            </p:cNvPr>
            <p:cNvGrpSpPr/>
            <p:nvPr/>
          </p:nvGrpSpPr>
          <p:grpSpPr>
            <a:xfrm>
              <a:off x="525294" y="4758795"/>
              <a:ext cx="11133305" cy="720000"/>
              <a:chOff x="497802" y="5259025"/>
              <a:chExt cx="11211598" cy="937029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6BB1FDA-F647-378A-C533-F74EC117FECC}"/>
                  </a:ext>
                </a:extLst>
              </p:cNvPr>
              <p:cNvSpPr/>
              <p:nvPr/>
            </p:nvSpPr>
            <p:spPr>
              <a:xfrm>
                <a:off x="497802" y="5305830"/>
                <a:ext cx="11211598" cy="8518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2"/>
                    </a:solidFill>
                    <a:ea typeface="Noto Sans" panose="020B0502040504020204" pitchFamily="34" charset="0"/>
                    <a:cs typeface="Noto Sans" panose="020B0502040504020204" pitchFamily="34" charset="0"/>
                  </a:rPr>
                  <a:t>6.   Key takeaways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2CD2DA2-0FEB-018B-9AF0-9DF33ECDA3D2}"/>
                  </a:ext>
                </a:extLst>
              </p:cNvPr>
              <p:cNvGrpSpPr/>
              <p:nvPr/>
            </p:nvGrpSpPr>
            <p:grpSpPr>
              <a:xfrm>
                <a:off x="8198190" y="5259025"/>
                <a:ext cx="3496138" cy="937029"/>
                <a:chOff x="9978887" y="1932967"/>
                <a:chExt cx="1556423" cy="457201"/>
              </a:xfrm>
              <a:solidFill>
                <a:srgbClr val="263A7D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2" name="Parallelogram 31">
                  <a:extLst>
                    <a:ext uri="{FF2B5EF4-FFF2-40B4-BE49-F238E27FC236}">
                      <a16:creationId xmlns:a16="http://schemas.microsoft.com/office/drawing/2014/main" id="{FBCA705D-6BE0-3EFE-743C-E61800A07D6A}"/>
                    </a:ext>
                  </a:extLst>
                </p:cNvPr>
                <p:cNvSpPr/>
                <p:nvPr/>
              </p:nvSpPr>
              <p:spPr>
                <a:xfrm>
                  <a:off x="9978887" y="1932967"/>
                  <a:ext cx="1216152" cy="457201"/>
                </a:xfrm>
                <a:prstGeom prst="parallelogram">
                  <a:avLst>
                    <a:gd name="adj" fmla="val 7065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 sz="2000"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4426A3E0-B456-ED13-8DC2-EF8F54B0B1AF}"/>
                    </a:ext>
                  </a:extLst>
                </p:cNvPr>
                <p:cNvSpPr/>
                <p:nvPr/>
              </p:nvSpPr>
              <p:spPr>
                <a:xfrm>
                  <a:off x="10359342" y="1932968"/>
                  <a:ext cx="1175968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CH" sz="2000" b="1" dirty="0">
                      <a:ea typeface="Noto Sans" panose="020B0502040504020204" pitchFamily="34" charset="0"/>
                      <a:cs typeface="Noto Sans" panose="020B0502040504020204" pitchFamily="34" charset="0"/>
                    </a:rPr>
                    <a:t>12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0846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C3E3-58EC-7E3C-2A6E-8AC98720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7DAB2C3-F73F-CAC9-AEF2-9A9B015BFA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31995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AB2C3-F73F-CAC9-AEF2-9A9B015BFA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75C99DA-2D9E-0F5E-2EF9-1B31AC9D85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2A58D-4944-D739-711B-3A92DBC0F39A}"/>
              </a:ext>
            </a:extLst>
          </p:cNvPr>
          <p:cNvSpPr txBox="1"/>
          <p:nvPr/>
        </p:nvSpPr>
        <p:spPr>
          <a:xfrm>
            <a:off x="-1" y="1644776"/>
            <a:ext cx="11132821" cy="3734701"/>
          </a:xfrm>
          <a:prstGeom prst="rect">
            <a:avLst/>
          </a:prstGeom>
          <a:solidFill>
            <a:srgbClr val="EAEAEA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759C2B5-397A-D03A-4C2B-3D7496059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3200" noProof="0" dirty="0"/>
              <a:t> </a:t>
            </a:r>
            <a:r>
              <a:rPr lang="en-AU" sz="3200" dirty="0"/>
              <a:t>Business need</a:t>
            </a:r>
            <a:endParaRPr lang="de-DE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2364E-0211-05E9-7F48-41CE46BB58A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1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DD2BBF24-E930-D6C3-75BD-73A6D991E6F2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CD606CC3-F83A-DED8-22C2-17E37640F02B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42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AF0A55-AA38-9415-A182-3E6928E3E4C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8919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6" progId="TCLayout.ActiveDocument.1">
                  <p:embed/>
                </p:oleObj>
              </mc:Choice>
              <mc:Fallback>
                <p:oleObj name="think-cell Slide" r:id="rId20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AF0A55-AA38-9415-A182-3E6928E3E4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48A8A52-678E-E726-EF7C-3274E448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Progress on reducing perishable good waste is slowing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F8F49-0EAF-B7C6-14FB-2A8A45507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Business need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0C950-8062-771E-BAFD-58E6BE594237}"/>
              </a:ext>
            </a:extLst>
          </p:cNvPr>
          <p:cNvSpPr txBox="1"/>
          <p:nvPr/>
        </p:nvSpPr>
        <p:spPr>
          <a:xfrm>
            <a:off x="488243" y="6445977"/>
            <a:ext cx="1041718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sz="1000" dirty="0"/>
              <a:t>Sources: Numan (2024)</a:t>
            </a:r>
          </a:p>
        </p:txBody>
      </p:sp>
      <p:graphicFrame>
        <p:nvGraphicFramePr>
          <p:cNvPr id="84" name="Chart 83">
            <a:extLst>
              <a:ext uri="{FF2B5EF4-FFF2-40B4-BE49-F238E27FC236}">
                <a16:creationId xmlns:a16="http://schemas.microsoft.com/office/drawing/2014/main" id="{6C74CC39-A2A0-9D3E-8432-5A3737C7D7A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7927513"/>
              </p:ext>
            </p:extLst>
          </p:nvPr>
        </p:nvGraphicFramePr>
        <p:xfrm>
          <a:off x="406400" y="1658938"/>
          <a:ext cx="5292725" cy="348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699C17-80AD-88CB-96AA-70BF44C4023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54113" y="2103438"/>
            <a:ext cx="50006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10575D6-331E-6267-6D38-190D444292F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885950" y="2103438"/>
            <a:ext cx="14763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201F3CE-BF9D-45D6-1AE9-82850F9677A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594100" y="2103438"/>
            <a:ext cx="6238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6E58EB-41F4-FE1D-B0A0-5837EA331C2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449763" y="2103438"/>
            <a:ext cx="622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E76E042-6E8A-DD39-F7CA-170F610B65D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303838" y="2103438"/>
            <a:ext cx="3556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7B55A2-9C4F-0A2E-C185-8863D708381F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2009775" y="2249488"/>
            <a:ext cx="4984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0A2448C-385F-CA46-7CDE-752ED7722A1F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2740025" y="2249488"/>
            <a:ext cx="622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D300E9F-72C6-AA88-ADB3-95AFEE0AB503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3594100" y="2249488"/>
            <a:ext cx="20653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4ECF30E-22B2-DD90-4DFF-CC7E88BFC3A3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5616575" y="2100263"/>
            <a:ext cx="0" cy="1524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27075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8DDF78C-8990-4496-A417-1A7A79B4696E}" type="datetime'''''''''2''''''''0''''''1''''''''''''''''''''8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582738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F8C9484-BF39-4282-A05C-6F5FC7692560}" type="datetime'''''''''''''20''''''''''''1''''''''''''9''''''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2436813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1E1F2DD-12B0-46D5-BC96-C474E7259875}" type="datetime'''''''2''''''''0''''''''''''''''''20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00A592A-9674-006D-25D3-40A3E784EFB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3290888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819F085-86F0-4E08-91FA-1971A1BF9DBF}" type="datetime'''''20''''''''''''''''''''''21''''''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400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D616684-EE0F-767D-881A-7365AEAA15E1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4146550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574707F-F3F4-4604-9C2C-B9374D8FAA10}" type="datetime'20''''''''''''''''''''2''''''''''''''2''''''''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sz="14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46337C0-BC6D-2E78-FB45-611DC287EB3D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5000625" y="4894263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3683D96-2546-42C1-B11D-8A9E56B7C347}" type="datetime'''''2''''''''''''''''''''''''''''0''2''''''''''''''3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en-US" sz="1400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5707063" y="2009775"/>
            <a:ext cx="388938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45B35FA-0C86-44BE-87EB-5BB3B237075F}" type="datetime'''''''-5''''''''''''''''''''''%'''''">
              <a:rPr lang="en-US" altLang="en-US" sz="1400" b="1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-5%</a:t>
            </a:fld>
            <a:endParaRPr lang="en-US" sz="14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CFEC05-B5DC-3B5E-EB91-F10B4B3F097B}"/>
              </a:ext>
            </a:extLst>
          </p:cNvPr>
          <p:cNvSpPr txBox="1"/>
          <p:nvPr/>
        </p:nvSpPr>
        <p:spPr>
          <a:xfrm>
            <a:off x="469898" y="1438512"/>
            <a:ext cx="551860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Perishable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waste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UK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retailers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 k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tonnes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i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DCDCF1-DF5C-3B94-6DAE-77D905E1EA4A}"/>
              </a:ext>
            </a:extLst>
          </p:cNvPr>
          <p:cNvSpPr txBox="1"/>
          <p:nvPr/>
        </p:nvSpPr>
        <p:spPr>
          <a:xfrm>
            <a:off x="6818313" y="1438512"/>
            <a:ext cx="326072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</a:t>
            </a:r>
            <a:endParaRPr lang="en-US" i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DCC6EBF-0808-D5A7-3C4A-B43316C96681}"/>
              </a:ext>
            </a:extLst>
          </p:cNvPr>
          <p:cNvCxnSpPr>
            <a:cxnSpLocks/>
          </p:cNvCxnSpPr>
          <p:nvPr/>
        </p:nvCxnSpPr>
        <p:spPr>
          <a:xfrm>
            <a:off x="495300" y="5385737"/>
            <a:ext cx="11224800" cy="0"/>
          </a:xfrm>
          <a:prstGeom prst="line">
            <a:avLst/>
          </a:prstGeom>
          <a:ln>
            <a:solidFill>
              <a:srgbClr val="0000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05209E46-11FD-E27F-C91F-19E6A4C12C2A}"/>
              </a:ext>
            </a:extLst>
          </p:cNvPr>
          <p:cNvSpPr/>
          <p:nvPr/>
        </p:nvSpPr>
        <p:spPr>
          <a:xfrm>
            <a:off x="5800784" y="5129136"/>
            <a:ext cx="613833" cy="650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7881FC1-D7D6-54A5-FDC0-3B10B32AD8B5}"/>
              </a:ext>
            </a:extLst>
          </p:cNvPr>
          <p:cNvGrpSpPr/>
          <p:nvPr/>
        </p:nvGrpSpPr>
        <p:grpSpPr>
          <a:xfrm rot="5400000">
            <a:off x="6019786" y="5188819"/>
            <a:ext cx="175829" cy="393837"/>
            <a:chOff x="8839580" y="4309003"/>
            <a:chExt cx="175829" cy="396000"/>
          </a:xfrm>
          <a:solidFill>
            <a:srgbClr val="000B3E"/>
          </a:solidFill>
        </p:grpSpPr>
        <p:sp>
          <p:nvSpPr>
            <p:cNvPr id="72" name="Arrow: Chevron 71">
              <a:extLst>
                <a:ext uri="{FF2B5EF4-FFF2-40B4-BE49-F238E27FC236}">
                  <a16:creationId xmlns:a16="http://schemas.microsoft.com/office/drawing/2014/main" id="{9E2D4A65-EE64-06A7-0393-EB3FEC21AD60}"/>
                </a:ext>
              </a:extLst>
            </p:cNvPr>
            <p:cNvSpPr/>
            <p:nvPr/>
          </p:nvSpPr>
          <p:spPr>
            <a:xfrm>
              <a:off x="8924925" y="4387148"/>
              <a:ext cx="90484" cy="23971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Arrow: Chevron 72">
              <a:extLst>
                <a:ext uri="{FF2B5EF4-FFF2-40B4-BE49-F238E27FC236}">
                  <a16:creationId xmlns:a16="http://schemas.microsoft.com/office/drawing/2014/main" id="{8B009810-F4C7-6A7A-0E12-C387E182E503}"/>
                </a:ext>
              </a:extLst>
            </p:cNvPr>
            <p:cNvSpPr/>
            <p:nvPr/>
          </p:nvSpPr>
          <p:spPr>
            <a:xfrm>
              <a:off x="8839580" y="4309003"/>
              <a:ext cx="90484" cy="39600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4" name="TextBox 26">
            <a:extLst>
              <a:ext uri="{FF2B5EF4-FFF2-40B4-BE49-F238E27FC236}">
                <a16:creationId xmlns:a16="http://schemas.microsoft.com/office/drawing/2014/main" id="{675D2D99-FF1F-5744-B60C-46509912F73B}"/>
              </a:ext>
            </a:extLst>
          </p:cNvPr>
          <p:cNvSpPr txBox="1"/>
          <p:nvPr/>
        </p:nvSpPr>
        <p:spPr>
          <a:xfrm>
            <a:off x="469899" y="5599696"/>
            <a:ext cx="11224800" cy="647695"/>
          </a:xfrm>
          <a:prstGeom prst="rect">
            <a:avLst/>
          </a:prstGeom>
          <a:solidFill>
            <a:srgbClr val="000B3E"/>
          </a:solidFill>
        </p:spPr>
        <p:txBody>
          <a:bodyPr wrap="square" lIns="9000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Noto Sans" panose="020B0502040504020204" pitchFamily="34" charset="0"/>
                <a:cs typeface="Noto Sans" panose="020B0502040504020204" pitchFamily="34" charset="0"/>
              </a:rPr>
              <a:t>The waste of perishable goods from supermarkets can be reduced by better forecasting the actual demand to avoid overstocking using an easily accessible ML model</a:t>
            </a:r>
          </a:p>
        </p:txBody>
      </p:sp>
      <p:sp>
        <p:nvSpPr>
          <p:cNvPr id="78" name="CuadroTexto 29">
            <a:extLst>
              <a:ext uri="{FF2B5EF4-FFF2-40B4-BE49-F238E27FC236}">
                <a16:creationId xmlns:a16="http://schemas.microsoft.com/office/drawing/2014/main" id="{5B0D7147-459E-4A35-D5FF-C54C52C63A85}"/>
              </a:ext>
            </a:extLst>
          </p:cNvPr>
          <p:cNvSpPr txBox="1"/>
          <p:nvPr/>
        </p:nvSpPr>
        <p:spPr>
          <a:xfrm>
            <a:off x="6818313" y="1843359"/>
            <a:ext cx="4876386" cy="3373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Retailers are relying on good forecasts to buy the right amount of goods to avoid overstocking or selling out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sales forecasts require well-trained models to buy just the right amount of goods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models need reliable data which includes aspects such as unique needs, new products, seasonal tastes, marketing etc.</a:t>
            </a:r>
          </a:p>
        </p:txBody>
      </p:sp>
    </p:spTree>
    <p:extLst>
      <p:ext uri="{BB962C8B-B14F-4D97-AF65-F5344CB8AC3E}">
        <p14:creationId xmlns:p14="http://schemas.microsoft.com/office/powerpoint/2010/main" val="191214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CAB9-3150-CDB9-1634-9DFCBCE3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1347805-7C35-D6AE-9E6E-629242DFF8B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8B8B1E-7482-96F1-01ED-77090F1AA5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62151E5-CC76-B52E-A8F6-8327CE9301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B38373-F3DB-D601-E85D-A8CEAB330C85}"/>
              </a:ext>
            </a:extLst>
          </p:cNvPr>
          <p:cNvSpPr txBox="1"/>
          <p:nvPr/>
        </p:nvSpPr>
        <p:spPr>
          <a:xfrm>
            <a:off x="-1" y="1644776"/>
            <a:ext cx="11132821" cy="3734701"/>
          </a:xfrm>
          <a:prstGeom prst="rect">
            <a:avLst/>
          </a:prstGeom>
          <a:solidFill>
            <a:srgbClr val="EAEAEA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32BD21-3291-428C-1745-6996937B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3200" noProof="0" dirty="0"/>
              <a:t> </a:t>
            </a:r>
            <a:r>
              <a:rPr lang="en-AU" sz="3200" dirty="0"/>
              <a:t>Model explanation</a:t>
            </a:r>
            <a:endParaRPr lang="de-DE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AD109-3CA7-1B1D-03BC-9EA300B5E14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2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F9D428BE-270F-F64F-352A-EC084A694192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438324EF-2F57-41AF-164F-D18F7FADC934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22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B47C-CC5F-92B5-1D6F-61CCB932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828DAF8-A550-B803-1E8E-A270E36DB23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19470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28DAF8-A550-B803-1E8E-A270E36DB2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4C9D0CC-A592-C723-BE71-23899C45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CH" dirty="0"/>
              <a:t>M</a:t>
            </a:r>
            <a:r>
              <a:rPr lang="en-US" dirty="0" err="1"/>
              <a:t>odel</a:t>
            </a:r>
            <a:r>
              <a:rPr lang="en-US" dirty="0"/>
              <a:t> was trained offline in 7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3782-F9D5-B99F-D4FA-427C32073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Model explanation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FE1A46-E956-AB3E-5C2D-9717D47F6BFA}"/>
              </a:ext>
            </a:extLst>
          </p:cNvPr>
          <p:cNvGrpSpPr/>
          <p:nvPr/>
        </p:nvGrpSpPr>
        <p:grpSpPr>
          <a:xfrm>
            <a:off x="469898" y="1819077"/>
            <a:ext cx="5512791" cy="553998"/>
            <a:chOff x="583208" y="1651472"/>
            <a:chExt cx="5512791" cy="55399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01BC43-0CBA-4214-06BE-4ADD72201FEA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DABC97-E9B6-043A-EAFE-398B48241D6E}"/>
                </a:ext>
              </a:extLst>
            </p:cNvPr>
            <p:cNvSpPr txBox="1"/>
            <p:nvPr/>
          </p:nvSpPr>
          <p:spPr>
            <a:xfrm>
              <a:off x="1226432" y="1651472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Subsampling &amp; modelling tables: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Random sampling to handle size and</a:t>
              </a:r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merge of main sales data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473A7EE-0098-6FAE-36D5-EB587AF3640D}"/>
              </a:ext>
            </a:extLst>
          </p:cNvPr>
          <p:cNvGrpSpPr/>
          <p:nvPr/>
        </p:nvGrpSpPr>
        <p:grpSpPr>
          <a:xfrm>
            <a:off x="469898" y="2474060"/>
            <a:ext cx="5512791" cy="553998"/>
            <a:chOff x="583208" y="1651472"/>
            <a:chExt cx="5512791" cy="55399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E2E7DC3-A953-4F52-AB9A-49E8035C1444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2</a:t>
              </a:r>
              <a:endParaRPr lang="en-US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EB4324-6C55-A531-8EBF-82DBA80CF059}"/>
                </a:ext>
              </a:extLst>
            </p:cNvPr>
            <p:cNvSpPr txBox="1"/>
            <p:nvPr/>
          </p:nvSpPr>
          <p:spPr>
            <a:xfrm>
              <a:off x="1226432" y="1651472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Time-based &amp; lag feature engineering: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Transform raw daily sales into richer time-series feature set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C77184-C6D3-3F14-9EA6-6C2DCA3AF9D1}"/>
              </a:ext>
            </a:extLst>
          </p:cNvPr>
          <p:cNvGrpSpPr/>
          <p:nvPr/>
        </p:nvGrpSpPr>
        <p:grpSpPr>
          <a:xfrm>
            <a:off x="469898" y="3129043"/>
            <a:ext cx="5512791" cy="553998"/>
            <a:chOff x="583208" y="1651472"/>
            <a:chExt cx="5512791" cy="55399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FE0D6F8-0FE3-A6DD-6A4E-B4C9072705FC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3</a:t>
              </a:r>
              <a:endParaRPr lang="en-US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8E8738-E0FA-A386-D4A6-B794DF062861}"/>
                </a:ext>
              </a:extLst>
            </p:cNvPr>
            <p:cNvSpPr txBox="1"/>
            <p:nvPr/>
          </p:nvSpPr>
          <p:spPr>
            <a:xfrm>
              <a:off x="1226432" y="1651472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Target definition &amp; split: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Define time-based unit sales and target and train/validation split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71DE1B-75FE-D027-DA07-EC26BE7C8FF5}"/>
              </a:ext>
            </a:extLst>
          </p:cNvPr>
          <p:cNvGrpSpPr/>
          <p:nvPr/>
        </p:nvGrpSpPr>
        <p:grpSpPr>
          <a:xfrm>
            <a:off x="469898" y="3784026"/>
            <a:ext cx="5512791" cy="553998"/>
            <a:chOff x="583208" y="1651473"/>
            <a:chExt cx="5512791" cy="55399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ACEDFAA-0194-5DB8-0B7E-2587F7FC8714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4</a:t>
              </a:r>
              <a:endParaRPr lang="en-US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416ABD-623D-B325-5223-9B32580BC1C3}"/>
                </a:ext>
              </a:extLst>
            </p:cNvPr>
            <p:cNvSpPr txBox="1"/>
            <p:nvPr/>
          </p:nvSpPr>
          <p:spPr>
            <a:xfrm>
              <a:off x="1226432" y="1651473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Preprocessing pipeline with </a:t>
              </a:r>
              <a:r>
                <a:rPr lang="en-US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ColumnTransformer</a:t>
              </a:r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Transforming of numeric and categorical features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16D08F-B941-71F4-6A82-19089BE63B29}"/>
              </a:ext>
            </a:extLst>
          </p:cNvPr>
          <p:cNvGrpSpPr/>
          <p:nvPr/>
        </p:nvGrpSpPr>
        <p:grpSpPr>
          <a:xfrm>
            <a:off x="469898" y="4439009"/>
            <a:ext cx="5512791" cy="553998"/>
            <a:chOff x="583208" y="1651473"/>
            <a:chExt cx="5512791" cy="55399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79DD147-7ACA-E31C-9EE3-8E55B3A3AF6C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5</a:t>
              </a:r>
              <a:endParaRPr lang="en-US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9263CB-B677-33B1-9B88-A1972530CBF5}"/>
                </a:ext>
              </a:extLst>
            </p:cNvPr>
            <p:cNvSpPr txBox="1"/>
            <p:nvPr/>
          </p:nvSpPr>
          <p:spPr>
            <a:xfrm>
              <a:off x="1226432" y="1651473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 zoo and hyperparameter grids: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Ridge &amp; Lasso regression, </a:t>
              </a:r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RandomForest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XGB, </a:t>
              </a:r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LGBRegressor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763AFC9-7AED-B1C5-5758-0A8B8546DAC3}"/>
              </a:ext>
            </a:extLst>
          </p:cNvPr>
          <p:cNvGrpSpPr/>
          <p:nvPr/>
        </p:nvGrpSpPr>
        <p:grpSpPr>
          <a:xfrm>
            <a:off x="469898" y="5093992"/>
            <a:ext cx="5512791" cy="553998"/>
            <a:chOff x="583208" y="1651473"/>
            <a:chExt cx="5512791" cy="55399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4E75825-7229-41AF-D20B-E1A9E9B2E05E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6</a:t>
              </a:r>
              <a:endParaRPr lang="en-US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4E6567-58DB-FA4B-2078-63D193D7CB82}"/>
                </a:ext>
              </a:extLst>
            </p:cNvPr>
            <p:cNvSpPr txBox="1"/>
            <p:nvPr/>
          </p:nvSpPr>
          <p:spPr>
            <a:xfrm>
              <a:off x="1226432" y="1651473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 selection: </a:t>
              </a:r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GridSearchCV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searches over the hyperparameter grid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560778-8892-8F3D-2CFD-396E0C8B80B3}"/>
              </a:ext>
            </a:extLst>
          </p:cNvPr>
          <p:cNvGrpSpPr/>
          <p:nvPr/>
        </p:nvGrpSpPr>
        <p:grpSpPr>
          <a:xfrm>
            <a:off x="469898" y="5748974"/>
            <a:ext cx="5512791" cy="553998"/>
            <a:chOff x="583208" y="1651474"/>
            <a:chExt cx="5512791" cy="553998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4D50D54-B970-12EE-3FEA-93F4CB11E4F2}"/>
                </a:ext>
              </a:extLst>
            </p:cNvPr>
            <p:cNvSpPr/>
            <p:nvPr/>
          </p:nvSpPr>
          <p:spPr>
            <a:xfrm>
              <a:off x="583208" y="1694471"/>
              <a:ext cx="468000" cy="468000"/>
            </a:xfrm>
            <a:prstGeom prst="ellipse">
              <a:avLst/>
            </a:prstGeom>
            <a:solidFill>
              <a:srgbClr val="000B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7</a:t>
              </a:r>
              <a:endParaRPr lang="en-US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DE0BA5-AC6C-0F9A-870B-09787F2F33F9}"/>
                </a:ext>
              </a:extLst>
            </p:cNvPr>
            <p:cNvSpPr txBox="1"/>
            <p:nvPr/>
          </p:nvSpPr>
          <p:spPr>
            <a:xfrm>
              <a:off x="1226432" y="1651474"/>
              <a:ext cx="4869567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Final model training and test prediction: 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Refitting of best model and generation of predictions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BFB5FA5-C723-DEA5-0693-8054BBB6859E}"/>
              </a:ext>
            </a:extLst>
          </p:cNvPr>
          <p:cNvSpPr txBox="1"/>
          <p:nvPr/>
        </p:nvSpPr>
        <p:spPr>
          <a:xfrm>
            <a:off x="469898" y="1438512"/>
            <a:ext cx="551860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creation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i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08F92B-8417-3F43-8BAB-1E4BDD95919B}"/>
              </a:ext>
            </a:extLst>
          </p:cNvPr>
          <p:cNvSpPr txBox="1"/>
          <p:nvPr/>
        </p:nvSpPr>
        <p:spPr>
          <a:xfrm>
            <a:off x="6583182" y="1438512"/>
            <a:ext cx="551860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i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F75EBE0-772B-D4CB-7D5A-95E61636DA9D}"/>
              </a:ext>
            </a:extLst>
          </p:cNvPr>
          <p:cNvGrpSpPr/>
          <p:nvPr/>
        </p:nvGrpSpPr>
        <p:grpSpPr>
          <a:xfrm>
            <a:off x="6583182" y="1819077"/>
            <a:ext cx="5070200" cy="921098"/>
            <a:chOff x="6583182" y="2006664"/>
            <a:chExt cx="5070200" cy="92109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91E7454-7CC3-3E84-CAB0-75272F034657}"/>
                </a:ext>
              </a:extLst>
            </p:cNvPr>
            <p:cNvGrpSpPr/>
            <p:nvPr/>
          </p:nvGrpSpPr>
          <p:grpSpPr>
            <a:xfrm>
              <a:off x="6583182" y="2006664"/>
              <a:ext cx="1584000" cy="921098"/>
              <a:chOff x="6583182" y="2006664"/>
              <a:chExt cx="1584000" cy="921098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A257871-C436-486E-2435-284E4AF38FED}"/>
                  </a:ext>
                </a:extLst>
              </p:cNvPr>
              <p:cNvSpPr/>
              <p:nvPr/>
            </p:nvSpPr>
            <p:spPr>
              <a:xfrm>
                <a:off x="6583182" y="2006664"/>
                <a:ext cx="1584000" cy="276999"/>
              </a:xfrm>
              <a:prstGeom prst="rect">
                <a:avLst/>
              </a:prstGeom>
              <a:solidFill>
                <a:srgbClr val="000B3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RMSE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8CE842B-F84F-66CD-EF44-0A1AD26EE02D}"/>
                  </a:ext>
                </a:extLst>
              </p:cNvPr>
              <p:cNvSpPr/>
              <p:nvPr/>
            </p:nvSpPr>
            <p:spPr>
              <a:xfrm>
                <a:off x="6583182" y="2260518"/>
                <a:ext cx="1584000" cy="667244"/>
              </a:xfrm>
              <a:prstGeom prst="rect">
                <a:avLst/>
              </a:prstGeom>
              <a:noFill/>
              <a:ln>
                <a:solidFill>
                  <a:srgbClr val="000B3E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9.89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86E1373-4246-15D3-AFDF-A7EE5C6B7740}"/>
                </a:ext>
              </a:extLst>
            </p:cNvPr>
            <p:cNvGrpSpPr/>
            <p:nvPr/>
          </p:nvGrpSpPr>
          <p:grpSpPr>
            <a:xfrm>
              <a:off x="8326282" y="2006664"/>
              <a:ext cx="1584000" cy="921098"/>
              <a:chOff x="8326282" y="2006664"/>
              <a:chExt cx="1584000" cy="92109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335A1B6-9AA1-68D8-A596-A65D0B9F221D}"/>
                  </a:ext>
                </a:extLst>
              </p:cNvPr>
              <p:cNvSpPr/>
              <p:nvPr/>
            </p:nvSpPr>
            <p:spPr>
              <a:xfrm>
                <a:off x="8326282" y="2006664"/>
                <a:ext cx="1584000" cy="276999"/>
              </a:xfrm>
              <a:prstGeom prst="rect">
                <a:avLst/>
              </a:prstGeom>
              <a:solidFill>
                <a:srgbClr val="000B3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65A6442-0416-5D76-BC62-466F27CA6F54}"/>
                  </a:ext>
                </a:extLst>
              </p:cNvPr>
              <p:cNvSpPr/>
              <p:nvPr/>
            </p:nvSpPr>
            <p:spPr>
              <a:xfrm>
                <a:off x="8326282" y="2260518"/>
                <a:ext cx="1584000" cy="667244"/>
              </a:xfrm>
              <a:prstGeom prst="rect">
                <a:avLst/>
              </a:prstGeom>
              <a:noFill/>
              <a:ln>
                <a:solidFill>
                  <a:srgbClr val="000B3E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3.45</a:t>
                </a:r>
                <a:endParaRPr 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F41AE1F-8211-C6FC-DDAA-6ED008C3B7F8}"/>
                </a:ext>
              </a:extLst>
            </p:cNvPr>
            <p:cNvGrpSpPr/>
            <p:nvPr/>
          </p:nvGrpSpPr>
          <p:grpSpPr>
            <a:xfrm>
              <a:off x="10069382" y="2006664"/>
              <a:ext cx="1584000" cy="921098"/>
              <a:chOff x="10069382" y="2006664"/>
              <a:chExt cx="1584000" cy="921098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453BF31-295A-5F7B-6CFA-0345F096D838}"/>
                  </a:ext>
                </a:extLst>
              </p:cNvPr>
              <p:cNvSpPr/>
              <p:nvPr/>
            </p:nvSpPr>
            <p:spPr>
              <a:xfrm>
                <a:off x="10069382" y="2006664"/>
                <a:ext cx="1584000" cy="276999"/>
              </a:xfrm>
              <a:prstGeom prst="rect">
                <a:avLst/>
              </a:prstGeom>
              <a:solidFill>
                <a:srgbClr val="000B3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b="1" baseline="30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A833681-5651-1554-E562-2E918A2A54B6}"/>
                  </a:ext>
                </a:extLst>
              </p:cNvPr>
              <p:cNvSpPr/>
              <p:nvPr/>
            </p:nvSpPr>
            <p:spPr>
              <a:xfrm>
                <a:off x="10069382" y="2260518"/>
                <a:ext cx="1584000" cy="667244"/>
              </a:xfrm>
              <a:prstGeom prst="rect">
                <a:avLst/>
              </a:prstGeom>
              <a:noFill/>
              <a:ln>
                <a:solidFill>
                  <a:srgbClr val="000B3E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0.74</a:t>
                </a:r>
                <a:endParaRPr 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A7E8641C-96AD-24F4-EFC8-338AE273B05F}"/>
              </a:ext>
            </a:extLst>
          </p:cNvPr>
          <p:cNvSpPr txBox="1"/>
          <p:nvPr/>
        </p:nvSpPr>
        <p:spPr>
          <a:xfrm>
            <a:off x="6583182" y="3146113"/>
            <a:ext cx="551860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de-DE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i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9E613F30-D134-8D6B-3593-589858836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583" y="3640042"/>
            <a:ext cx="5342799" cy="229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5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D406-0321-2B0C-C695-F9B92601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A9BF36D-DF77-D429-7037-341B49723F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347805-7C35-D6AE-9E6E-629242DFF8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462892A-520A-DAE2-03FF-A16E1A5E1C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857DAF-65D6-43CB-0FCD-0349F6635C44}"/>
              </a:ext>
            </a:extLst>
          </p:cNvPr>
          <p:cNvSpPr txBox="1"/>
          <p:nvPr/>
        </p:nvSpPr>
        <p:spPr>
          <a:xfrm>
            <a:off x="-1" y="1644776"/>
            <a:ext cx="11132821" cy="3734701"/>
          </a:xfrm>
          <a:prstGeom prst="rect">
            <a:avLst/>
          </a:prstGeom>
          <a:solidFill>
            <a:srgbClr val="EAEAEA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7F4867D-D8FD-FE4A-9294-14AD44AE9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AWS Infrastructure</a:t>
            </a:r>
            <a:endParaRPr lang="de-DE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73D4B5-52BE-86FF-7CB0-C4B65D51C54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629F7277-6F4A-60BA-051A-C9B1D2E379A9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0F5326D8-22AC-01A9-A451-94FA9CD989EE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06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28A2-8A11-A61D-D592-AAF87B73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908856-76A7-8371-15FF-4170EEA87B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154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CD75B2-BD7A-DDB4-F96D-3DFE0E4E7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BEEA27D-CC70-7B18-1394-E2094EE9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Overview of the AWS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6F90-4815-B94C-655C-C7EE07C00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AWS infrastructure</a:t>
            </a:r>
          </a:p>
        </p:txBody>
      </p:sp>
      <p:pic>
        <p:nvPicPr>
          <p:cNvPr id="8" name="Picture 7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8765DAB1-63BF-3B48-5969-DC8D03CD00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t="807" r="1505" b="984"/>
          <a:stretch/>
        </p:blipFill>
        <p:spPr>
          <a:xfrm>
            <a:off x="1846447" y="1506230"/>
            <a:ext cx="8499107" cy="46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3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77DA-BD6A-103E-3F94-815D5EDB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94184A9-4772-34C0-FA1E-1D428133600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908856-76A7-8371-15FF-4170EEA87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D05473A-3CF2-B2AE-00B5-4D857EC4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The development process can be divided into four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F9639-3CD4-8245-4109-F420BCAA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AWS infrastructure</a:t>
            </a:r>
          </a:p>
        </p:txBody>
      </p:sp>
      <p:pic>
        <p:nvPicPr>
          <p:cNvPr id="15" name="Picture 14" descr="A diagram of a training environment&#10;&#10;AI-generated content may be incorrect.">
            <a:extLst>
              <a:ext uri="{FF2B5EF4-FFF2-40B4-BE49-F238E27FC236}">
                <a16:creationId xmlns:a16="http://schemas.microsoft.com/office/drawing/2014/main" id="{54CA4FF0-9FC1-71CE-288E-3E3DBCA3C3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5" y="1541780"/>
            <a:ext cx="10945091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4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0513-00FB-FA75-F793-C8164471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8DEA05B-C874-D901-FF54-BBC20E402B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7742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0A0E4-C67F-BAEC-215D-46A88DB968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5EA8485-3F27-0296-2462-AF0E73DF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Data flows between the different AWS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27865-7BE4-0E62-5655-927D149A4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AWS infrastructure</a:t>
            </a:r>
          </a:p>
        </p:txBody>
      </p:sp>
      <p:pic>
        <p:nvPicPr>
          <p:cNvPr id="12" name="Picture 11" descr="A diagram of a flowchart&#10;&#10;AI-generated content may be incorrect.">
            <a:extLst>
              <a:ext uri="{FF2B5EF4-FFF2-40B4-BE49-F238E27FC236}">
                <a16:creationId xmlns:a16="http://schemas.microsoft.com/office/drawing/2014/main" id="{CE815152-146A-3D78-7BC5-FC265170B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541780"/>
            <a:ext cx="10248900" cy="451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57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0232-7E8B-CC8C-1C1D-0A2CF8A0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6848F6-F895-099F-B845-DBAE43076A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9BF36D-DF77-D429-7037-341B49723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EAE75F7-B366-DD2F-8416-FD74D4B09B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993562-B7D5-DD00-870C-217002059A89}"/>
              </a:ext>
            </a:extLst>
          </p:cNvPr>
          <p:cNvSpPr txBox="1"/>
          <p:nvPr/>
        </p:nvSpPr>
        <p:spPr>
          <a:xfrm>
            <a:off x="-1" y="1644776"/>
            <a:ext cx="11132821" cy="3734701"/>
          </a:xfrm>
          <a:prstGeom prst="rect">
            <a:avLst/>
          </a:prstGeom>
          <a:solidFill>
            <a:srgbClr val="EAEAEA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EB9E657-7FC1-81A3-9A81-047770CA6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Live Demonstration</a:t>
            </a:r>
            <a:endParaRPr lang="de-DE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66DDFC-D78F-E8C6-77BF-3EBCB8929A3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4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0912F5F4-0E59-BDEE-7A64-DF43005251DB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63DA0E99-1E57-7629-2D2C-C237AF7B6A41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1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E714-C198-2F68-8D0E-2202320D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7F1973-E316-E533-FD3A-802C59678EC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6848F6-F895-099F-B845-DBAE43076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0C319EF-70B6-D100-DE39-AF5157ED87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08101-01F2-6174-C9F5-A33F3B4A014C}"/>
              </a:ext>
            </a:extLst>
          </p:cNvPr>
          <p:cNvSpPr txBox="1"/>
          <p:nvPr/>
        </p:nvSpPr>
        <p:spPr>
          <a:xfrm>
            <a:off x="-1" y="1644776"/>
            <a:ext cx="11132821" cy="3734701"/>
          </a:xfrm>
          <a:prstGeom prst="rect">
            <a:avLst/>
          </a:prstGeom>
          <a:solidFill>
            <a:srgbClr val="EAEAEA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A0EAC02-5945-4D93-AEF6-BB1197070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Key takeaways</a:t>
            </a:r>
            <a:endParaRPr lang="de-DE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60183A-15D2-731C-D200-43BD515AA05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5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8099979A-863C-AD5D-C9F4-5E43A173E4AF}"/>
              </a:ext>
            </a:extLst>
          </p:cNvPr>
          <p:cNvCxnSpPr>
            <a:cxnSpLocks/>
          </p:cNvCxnSpPr>
          <p:nvPr/>
        </p:nvCxnSpPr>
        <p:spPr>
          <a:xfrm>
            <a:off x="3577513" y="44619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ADF8436C-5C33-C265-8BCD-3928CC3B8572}"/>
              </a:ext>
            </a:extLst>
          </p:cNvPr>
          <p:cNvCxnSpPr>
            <a:cxnSpLocks/>
          </p:cNvCxnSpPr>
          <p:nvPr/>
        </p:nvCxnSpPr>
        <p:spPr>
          <a:xfrm>
            <a:off x="3577513" y="2633149"/>
            <a:ext cx="6973235" cy="0"/>
          </a:xfrm>
          <a:prstGeom prst="line">
            <a:avLst/>
          </a:prstGeom>
          <a:ln>
            <a:solidFill>
              <a:srgbClr val="000B3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1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D6AB-960D-A576-96C2-C0E6703C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AEAE92-8E1A-B456-F71B-E1B031B3A05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908856-76A7-8371-15FF-4170EEA87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0E0CAD-CCA2-D1BE-D7BA-3D8505D2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The solution can be improved in the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1BCAB-34D4-5331-70FD-27C974A80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Key takeaways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CAA437-BA51-BC31-4BA2-0C2F63E289A8}"/>
              </a:ext>
            </a:extLst>
          </p:cNvPr>
          <p:cNvCxnSpPr>
            <a:cxnSpLocks/>
          </p:cNvCxnSpPr>
          <p:nvPr/>
        </p:nvCxnSpPr>
        <p:spPr>
          <a:xfrm>
            <a:off x="6096001" y="2012392"/>
            <a:ext cx="0" cy="426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6">
            <a:extLst>
              <a:ext uri="{FF2B5EF4-FFF2-40B4-BE49-F238E27FC236}">
                <a16:creationId xmlns:a16="http://schemas.microsoft.com/office/drawing/2014/main" id="{DB83CC28-2FCF-3812-869E-38B452BD1083}"/>
              </a:ext>
            </a:extLst>
          </p:cNvPr>
          <p:cNvSpPr txBox="1"/>
          <p:nvPr/>
        </p:nvSpPr>
        <p:spPr>
          <a:xfrm>
            <a:off x="469897" y="2012392"/>
            <a:ext cx="5384797" cy="350520"/>
          </a:xfrm>
          <a:prstGeom prst="rect">
            <a:avLst/>
          </a:prstGeom>
          <a:solidFill>
            <a:srgbClr val="000B3E"/>
          </a:solidFill>
        </p:spPr>
        <p:txBody>
          <a:bodyPr wrap="square" lIns="9000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Noto Sans" panose="020B0502040504020204" pitchFamily="34" charset="0"/>
                <a:cs typeface="Noto Sans" panose="020B0502040504020204" pitchFamily="34" charset="0"/>
              </a:rPr>
              <a:t>Key </a:t>
            </a:r>
            <a:r>
              <a:rPr kumimoji="0" lang="de-CH" b="1" i="0" u="none" strike="noStrike" kern="1200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Noto Sans" panose="020B0502040504020204" pitchFamily="34" charset="0"/>
                <a:cs typeface="Noto Sans" panose="020B0502040504020204" pitchFamily="34" charset="0"/>
              </a:rPr>
              <a:t>takeaways</a:t>
            </a:r>
            <a:endParaRPr kumimoji="0" lang="de-CH" b="1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59AAE-BD2C-A9A1-8928-3D531135966F}"/>
              </a:ext>
            </a:extLst>
          </p:cNvPr>
          <p:cNvSpPr/>
          <p:nvPr/>
        </p:nvSpPr>
        <p:spPr>
          <a:xfrm>
            <a:off x="2928295" y="1539635"/>
            <a:ext cx="468000" cy="468000"/>
          </a:xfrm>
          <a:prstGeom prst="ellipse">
            <a:avLst/>
          </a:prstGeom>
          <a:solidFill>
            <a:srgbClr val="000B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1</a:t>
            </a:r>
            <a:endParaRPr lang="en-US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7B2779-25E1-64A6-BB8C-C57EA1E5A3C9}"/>
              </a:ext>
            </a:extLst>
          </p:cNvPr>
          <p:cNvSpPr/>
          <p:nvPr/>
        </p:nvSpPr>
        <p:spPr>
          <a:xfrm>
            <a:off x="8795705" y="1539635"/>
            <a:ext cx="468000" cy="468000"/>
          </a:xfrm>
          <a:prstGeom prst="ellipse">
            <a:avLst/>
          </a:prstGeom>
          <a:solidFill>
            <a:srgbClr val="000B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3</a:t>
            </a:r>
            <a:endParaRPr lang="en-US" b="1" dirty="0"/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A99D57BB-AFBE-7DFA-E967-13B6F8975860}"/>
              </a:ext>
            </a:extLst>
          </p:cNvPr>
          <p:cNvSpPr txBox="1"/>
          <p:nvPr/>
        </p:nvSpPr>
        <p:spPr>
          <a:xfrm>
            <a:off x="6337307" y="2012392"/>
            <a:ext cx="5384797" cy="350520"/>
          </a:xfrm>
          <a:prstGeom prst="rect">
            <a:avLst/>
          </a:prstGeom>
          <a:solidFill>
            <a:srgbClr val="000B3E"/>
          </a:solidFill>
        </p:spPr>
        <p:txBody>
          <a:bodyPr wrap="square" lIns="9000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ea typeface="Noto Sans" panose="020B0502040504020204" pitchFamily="34" charset="0"/>
                <a:cs typeface="Noto Sans" panose="020B0502040504020204" pitchFamily="34" charset="0"/>
              </a:rPr>
              <a:t>Improvement possibilities</a:t>
            </a:r>
            <a:endParaRPr kumimoji="0" lang="en-US" b="1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05228-3408-1370-6BEC-6D82C1E79586}"/>
              </a:ext>
            </a:extLst>
          </p:cNvPr>
          <p:cNvSpPr txBox="1"/>
          <p:nvPr/>
        </p:nvSpPr>
        <p:spPr>
          <a:xfrm>
            <a:off x="1333506" y="2522581"/>
            <a:ext cx="4521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Cloud scalability</a:t>
            </a:r>
            <a:r>
              <a:rPr lang="en-US" dirty="0">
                <a:latin typeface="Calibri"/>
                <a:ea typeface="Calibri"/>
                <a:cs typeface="Calibri"/>
              </a:rPr>
              <a:t>: Project demonstrates the use of diverse AWS compute services to handle different workloads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994C3-4F49-7277-CA52-3189AC01F67A}"/>
              </a:ext>
            </a:extLst>
          </p:cNvPr>
          <p:cNvSpPr txBox="1"/>
          <p:nvPr/>
        </p:nvSpPr>
        <p:spPr>
          <a:xfrm>
            <a:off x="7492356" y="2522581"/>
            <a:ext cx="4298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Incorporation of external data: </a:t>
            </a:r>
            <a:r>
              <a:rPr lang="en-US" dirty="0">
                <a:latin typeface="Calibri"/>
                <a:ea typeface="Calibri"/>
                <a:cs typeface="Calibri"/>
              </a:rPr>
              <a:t>Adding of external signals such as local weather data, holiday calendars, or major local events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2C020B-B7A8-9BAC-ECA6-DCB647C0CEC0}"/>
              </a:ext>
            </a:extLst>
          </p:cNvPr>
          <p:cNvSpPr txBox="1"/>
          <p:nvPr/>
        </p:nvSpPr>
        <p:spPr>
          <a:xfrm>
            <a:off x="7492356" y="3748521"/>
            <a:ext cx="4298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Add API gateway</a:t>
            </a:r>
            <a:r>
              <a:rPr lang="en-US" dirty="0">
                <a:latin typeface="Calibri"/>
                <a:ea typeface="Calibri"/>
                <a:cs typeface="Calibri"/>
              </a:rPr>
              <a:t>: Currently, the process is triggered by an S3 upload. Adding an API gateway would allow better access options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6C5333-F622-36D4-83E6-91A8D8239004}"/>
              </a:ext>
            </a:extLst>
          </p:cNvPr>
          <p:cNvSpPr txBox="1"/>
          <p:nvPr/>
        </p:nvSpPr>
        <p:spPr>
          <a:xfrm>
            <a:off x="7550697" y="4953863"/>
            <a:ext cx="42103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Inventory optimization layer</a:t>
            </a:r>
            <a:r>
              <a:rPr lang="en-US" dirty="0">
                <a:latin typeface="Calibri"/>
                <a:ea typeface="Calibri"/>
                <a:cs typeface="Calibri"/>
              </a:rPr>
              <a:t>: Move beyond raw prediction numbers by building a layer that translates sales into actual order quantities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B5C916F-622C-AAB1-7716-EEA469AE9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704" y="2672846"/>
            <a:ext cx="622800" cy="622800"/>
          </a:xfrm>
          <a:prstGeom prst="rect">
            <a:avLst/>
          </a:prstGeom>
        </p:spPr>
      </p:pic>
      <p:pic>
        <p:nvPicPr>
          <p:cNvPr id="1026" name="Picture 2" descr="AWS Api Gateway Logotipo Vector - Descarga Gratis SVG | Worldvectorlogo">
            <a:extLst>
              <a:ext uri="{FF2B5EF4-FFF2-40B4-BE49-F238E27FC236}">
                <a16:creationId xmlns:a16="http://schemas.microsoft.com/office/drawing/2014/main" id="{6B539011-2A8C-76CA-A08B-18675B5C6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515" y="3833148"/>
            <a:ext cx="622800" cy="75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D08099-B676-96E5-BC8F-39440F911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4971" y="5242627"/>
            <a:ext cx="622800" cy="622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97854E-FEB1-332F-C0CE-99233B54A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998" y="2672846"/>
            <a:ext cx="599887" cy="599887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E7B91F29-8D85-C96F-DCF7-E7B7F15B6FAD}"/>
              </a:ext>
            </a:extLst>
          </p:cNvPr>
          <p:cNvSpPr/>
          <p:nvPr/>
        </p:nvSpPr>
        <p:spPr>
          <a:xfrm>
            <a:off x="2930199" y="3557537"/>
            <a:ext cx="468000" cy="468000"/>
          </a:xfrm>
          <a:prstGeom prst="ellipse">
            <a:avLst/>
          </a:prstGeom>
          <a:solidFill>
            <a:srgbClr val="000B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2</a:t>
            </a:r>
            <a:endParaRPr lang="en-US" b="1" dirty="0"/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BF42A0F7-68CD-B799-3AB9-7D1264E281F3}"/>
              </a:ext>
            </a:extLst>
          </p:cNvPr>
          <p:cNvSpPr txBox="1"/>
          <p:nvPr/>
        </p:nvSpPr>
        <p:spPr>
          <a:xfrm>
            <a:off x="471801" y="4030294"/>
            <a:ext cx="5384797" cy="350520"/>
          </a:xfrm>
          <a:prstGeom prst="rect">
            <a:avLst/>
          </a:prstGeom>
          <a:solidFill>
            <a:srgbClr val="000B3E"/>
          </a:solidFill>
        </p:spPr>
        <p:txBody>
          <a:bodyPr wrap="square" lIns="9000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ea typeface="Noto Sans" panose="020B0502040504020204" pitchFamily="34" charset="0"/>
                <a:cs typeface="Noto Sans" panose="020B0502040504020204" pitchFamily="34" charset="0"/>
              </a:rPr>
              <a:t>Impact of solution</a:t>
            </a:r>
            <a:endParaRPr kumimoji="0" lang="en-US" b="1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1453B1-60B6-DB5D-C9F0-61B846320D48}"/>
              </a:ext>
            </a:extLst>
          </p:cNvPr>
          <p:cNvSpPr txBox="1"/>
          <p:nvPr/>
        </p:nvSpPr>
        <p:spPr>
          <a:xfrm>
            <a:off x="1333506" y="4438883"/>
            <a:ext cx="44035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Reduction of food waste: </a:t>
            </a:r>
            <a:r>
              <a:rPr lang="en-US" dirty="0">
                <a:latin typeface="Calibri"/>
                <a:ea typeface="Calibri"/>
                <a:cs typeface="Calibri"/>
              </a:rPr>
              <a:t>By generating more accurate demand forecasts, managers avoid overstocking and therefore food waste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CBE7C66-6A42-76BA-433A-C8389CABC9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998" y="4651748"/>
            <a:ext cx="601200" cy="601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0C75493-25A0-ED20-5ACC-D68C7B2F4C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998" y="5615829"/>
            <a:ext cx="601200" cy="601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220F6CF-B035-23CC-6F22-2C9A436B44D9}"/>
              </a:ext>
            </a:extLst>
          </p:cNvPr>
          <p:cNvSpPr txBox="1"/>
          <p:nvPr/>
        </p:nvSpPr>
        <p:spPr>
          <a:xfrm>
            <a:off x="1333506" y="5454764"/>
            <a:ext cx="44035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Operational efficiency: </a:t>
            </a:r>
            <a:r>
              <a:rPr lang="en-US" dirty="0">
                <a:latin typeface="Calibri"/>
                <a:ea typeface="Calibri"/>
                <a:cs typeface="Calibri"/>
              </a:rPr>
              <a:t>The “upload-and-forget” workflow removes the need for manual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1561645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2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42110749608999986648E+00&quot;&gt;&lt;m_msothmcolidx val=&quot;0&quot;/&gt;&lt;m_rgb r=&quot;00&quot; g=&quot;7A&quot; b=&quot;33&quot;/&gt;&lt;/elem&gt;&lt;elem m_fUsage=&quot;1.77190821000000053864E+00&quot;&gt;&lt;m_msothmcolidx val=&quot;0&quot;/&gt;&lt;m_rgb r=&quot;EA&quot; g=&quot;EA&quot; b=&quot;EA&quot;/&gt;&lt;/elem&gt;&lt;elem m_fUsage=&quot;1.24659000000000030894E+00&quot;&gt;&lt;m_msothmcolidx val=&quot;0&quot;/&gt;&lt;m_rgb r=&quot;33&quot; g=&quot;33&quot; b=&quot;33&quot;/&gt;&lt;/elem&gt;&lt;elem m_fUsage=&quot;1.00000000000000000000E+00&quot;&gt;&lt;m_msothmcolidx val=&quot;0&quot;/&gt;&lt;m_rgb r=&quot;00&quot; g=&quot;0B&quot; b=&quot;3E&quot;/&gt;&lt;/elem&gt;&lt;elem m_fUsage=&quot;8.40394504457499080807E-01&quot;&gt;&lt;m_msothmcolidx val=&quot;0&quot;/&gt;&lt;m_rgb r=&quot;ED&quot; g=&quot;E3&quot; b=&quot;D6&quot;/&gt;&lt;/elem&gt;&lt;elem m_fUsage=&quot;7.36098929100000187731E-01&quot;&gt;&lt;m_msothmcolidx val=&quot;0&quot;/&gt;&lt;m_rgb r=&quot;59&quot; g=&quot;B8&quot; b=&quot;5B&quot;/&gt;&lt;/elem&gt;&lt;elem m_fUsage=&quot;4.82954507382510167535E-01&quot;&gt;&lt;m_msothmcolidx val=&quot;0&quot;/&gt;&lt;m_rgb r=&quot;19&quot; g=&quot;2E&quot; b=&quot;55&quot;/&gt;&lt;/elem&gt;&lt;elem m_fUsage=&quot;1.50094635296999151519E-01&quot;&gt;&lt;m_msothmcolidx val=&quot;0&quot;/&gt;&lt;m_rgb r=&quot;D5&quot; g=&quot;2F&quot; b=&quot;89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PCyn3aI_QIX6K6S5S4S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A7PLswJYgFNkonygTL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MjN2uh0zULEnCG27t9C9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YMkwPsf9gdhB52usyeI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sgSEIBvcngFVkZdEjpp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oezc.Tsk7je_3XlTQDG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9akvjuA6Kk4una6BSo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qLLeAy0XeNmkNRJUUqu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ntETe7sYR4ICQOJljus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idqWko14vClaW2VefXY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7sK4ojsYkeuV9hoVCaJ2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EiJuTzLLJ_B5IrxCKK9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muv8G7xmxRGbhK6dvP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dCVM_BiLMB4Q8_xSBur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GVI.zQSLCH4kVR8yYg8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BCelZe_LuPXONK5fwQC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u.eIyWOVJUmOPpzkY4n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1b2f9d-fc54-494f-b207-865d13b0a214">
      <Terms xmlns="http://schemas.microsoft.com/office/infopath/2007/PartnerControls"/>
    </lcf76f155ced4ddcb4097134ff3c332f>
    <TaxCatchAll xmlns="7ef1289e-170e-4d0b-a4c6-61d608126530" xsi:nil="true"/>
    <SharedWithUsers xmlns="7ef1289e-170e-4d0b-a4c6-61d608126530">
      <UserInfo>
        <DisplayName>Leithner, Oskar</DisplayName>
        <AccountId>16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1FCF90D9F0D4F46990D13AF9060B274" ma:contentTypeVersion="12" ma:contentTypeDescription="Ein neues Dokument erstellen." ma:contentTypeScope="" ma:versionID="c9ff283ff5901ab0c1a504490315f135">
  <xsd:schema xmlns:xsd="http://www.w3.org/2001/XMLSchema" xmlns:xs="http://www.w3.org/2001/XMLSchema" xmlns:p="http://schemas.microsoft.com/office/2006/metadata/properties" xmlns:ns2="8e1b2f9d-fc54-494f-b207-865d13b0a214" xmlns:ns3="7ef1289e-170e-4d0b-a4c6-61d608126530" targetNamespace="http://schemas.microsoft.com/office/2006/metadata/properties" ma:root="true" ma:fieldsID="533cad3b22625839a7387cdb1286d128" ns2:_="" ns3:_="">
    <xsd:import namespace="8e1b2f9d-fc54-494f-b207-865d13b0a214"/>
    <xsd:import namespace="7ef1289e-170e-4d0b-a4c6-61d6081265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1b2f9d-fc54-494f-b207-865d13b0a2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e6e639ec-35b1-4635-902a-5d54595023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1289e-170e-4d0b-a4c6-61d60812653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726215c-3cb4-47de-8561-90d4121181d7}" ma:internalName="TaxCatchAll" ma:showField="CatchAllData" ma:web="7ef1289e-170e-4d0b-a4c6-61d6081265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BA4935-66A4-4EC6-85D5-E89BD3111D71}">
  <ds:schemaRefs>
    <ds:schemaRef ds:uri="7ef1289e-170e-4d0b-a4c6-61d608126530"/>
    <ds:schemaRef ds:uri="8e1b2f9d-fc54-494f-b207-865d13b0a2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DDD320-BDE2-44EA-BA80-0E88B63CA4E9}">
  <ds:schemaRefs>
    <ds:schemaRef ds:uri="7ef1289e-170e-4d0b-a4c6-61d608126530"/>
    <ds:schemaRef ds:uri="8e1b2f9d-fc54-494f-b207-865d13b0a2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B88003D-B31F-4BB1-82D4-5472AA19A2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503</Words>
  <Application>Microsoft Office PowerPoint</Application>
  <PresentationFormat>Widescreen</PresentationFormat>
  <Paragraphs>92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Avenir Next LT Pro</vt:lpstr>
      <vt:lpstr>Calibri</vt:lpstr>
      <vt:lpstr>Century Gothic</vt:lpstr>
      <vt:lpstr>Noto Sans</vt:lpstr>
      <vt:lpstr>Wingdings</vt:lpstr>
      <vt:lpstr>AccentBoxVTI</vt:lpstr>
      <vt:lpstr>think-cell Slide</vt:lpstr>
      <vt:lpstr>PowerPoint Presentation</vt:lpstr>
      <vt:lpstr>The presentation is focused on 6 main parts </vt:lpstr>
      <vt:lpstr>PowerPoint Presentation</vt:lpstr>
      <vt:lpstr>Progress on reducing perishable good waste is slowing</vt:lpstr>
      <vt:lpstr>PowerPoint Presentation</vt:lpstr>
      <vt:lpstr>Model was trained offline in 7 steps</vt:lpstr>
      <vt:lpstr>PowerPoint Presentation</vt:lpstr>
      <vt:lpstr>Overview of the AWS Infrastructure</vt:lpstr>
      <vt:lpstr>The development process can be divided into four phases</vt:lpstr>
      <vt:lpstr>Data flows between the different AWS components</vt:lpstr>
      <vt:lpstr>PowerPoint Presentation</vt:lpstr>
      <vt:lpstr>PowerPoint Presentation</vt:lpstr>
      <vt:lpstr>The solution can be improved in the 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Theodor Rotenhan</dc:creator>
  <cp:lastModifiedBy>Maximilian Voss</cp:lastModifiedBy>
  <cp:revision>3</cp:revision>
  <dcterms:created xsi:type="dcterms:W3CDTF">2013-07-15T20:26:40Z</dcterms:created>
  <dcterms:modified xsi:type="dcterms:W3CDTF">2025-12-04T21:19:02Z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0x01010021FCF90D9F0D4F46990D13AF9060B274</vt:lpwstr>
  </property>
  <property fmtid="{D5CDD505-2E9C-101B-9397-08002B2CF9AE}" pid="3" name="MediaServiceImageTags">
    <vt:lpwstr/>
  </property>
</Properties>
</file>